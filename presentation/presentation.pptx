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001000" y="502920"/>
            <a:ext cx="3611880" cy="960120"/>
          </a:xfrm>
          <a:prstGeom prst="roundRect">
            <a:avLst/>
          </a:prstGeom>
          <a:solidFill>
            <a:srgbClr val="ECF3FF"/>
          </a:solidFill>
          <a:ln>
            <a:solidFill>
              <a:srgbClr val="D8E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01000" y="786720"/>
            <a:ext cx="361188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2F66D0"/>
                </a:solidFill>
              </a:defRPr>
            </a:pPr>
            <a:r>
              <a:rPr dirty="0"/>
              <a:t>Artificial Intelligence for Robotics II</a:t>
            </a:r>
          </a:p>
        </p:txBody>
      </p:sp>
      <p:pic>
        <p:nvPicPr>
          <p:cNvPr id="5" name="Picture 4" descr="uni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758951"/>
            <a:ext cx="137160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83080" y="932914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52C4F"/>
                </a:solidFill>
              </a:defRPr>
            </a:pPr>
            <a:r>
              <a:rPr dirty="0"/>
              <a:t>Università di Genova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252727"/>
            <a:ext cx="4206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627082"/>
                </a:solidFill>
              </a:defRPr>
            </a:pPr>
            <a:r>
              <a:rPr dirty="0"/>
              <a:t>Robotics Engineering MSc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39" y="2715767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100" b="1">
                <a:solidFill>
                  <a:srgbClr val="152C4F"/>
                </a:solidFill>
              </a:defRPr>
            </a:pPr>
            <a:r>
              <a:rPr dirty="0"/>
              <a:t>Planetary Rover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0927" y="3355848"/>
            <a:ext cx="10149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600" b="1">
                <a:solidFill>
                  <a:srgbClr val="152C4F"/>
                </a:solidFill>
              </a:defRPr>
            </a:pPr>
            <a:r>
              <a:rPr dirty="0"/>
              <a:t>Memory Constraints and Data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059936"/>
            <a:ext cx="841248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27082"/>
                </a:solidFill>
              </a:defRPr>
            </a:pPr>
            <a:r>
              <a:rPr dirty="0"/>
              <a:t>Classical PDDL and PDDL+ Planning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0440" y="5852160"/>
            <a:ext cx="493776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627082"/>
                </a:solidFill>
              </a:defRPr>
            </a:pPr>
            <a:r>
              <a:rPr sz="1600" dirty="0"/>
              <a:t>Student: Endri Gjinaj · 5418701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6492240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27082"/>
                </a:solidFill>
              </a:defRPr>
            </a:pPr>
            <a:r>
              <a:t>D1-V8 · Planetary Rover · Memory Constraints and Data Management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27082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6492240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27082"/>
                </a:solidFill>
              </a:defRPr>
            </a:pPr>
            <a:r>
              <a:t>D1-V8 · Planetary Rover · Memory Constraints and Data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27082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52C4F"/>
                </a:solidFill>
              </a:defRPr>
            </a:pPr>
            <a:r>
              <a:t>1. Problem &amp; Domain 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3246120" cy="1051560"/>
          </a:xfrm>
          <a:prstGeom prst="roundRect">
            <a:avLst/>
          </a:prstGeom>
          <a:solidFill>
            <a:srgbClr val="ECF3FF"/>
          </a:solidFill>
          <a:ln w="15240">
            <a:solidFill>
              <a:srgbClr val="2F6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91440" cy="1051560"/>
          </a:xfrm>
          <a:prstGeom prst="rect">
            <a:avLst/>
          </a:prstGeom>
          <a:solidFill>
            <a:srgbClr val="2F6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299008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52C4F"/>
                </a:solidFill>
              </a:defRPr>
            </a:pPr>
            <a: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18488"/>
            <a:ext cx="297180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83342"/>
                </a:solidFill>
              </a:defRPr>
            </a:pPr>
            <a:r>
              <a:rPr dirty="0"/>
              <a:t>Single rover mission on a known map.</a:t>
            </a:r>
          </a:p>
          <a:p>
            <a:pPr>
              <a:spcAft>
                <a:spcPts val="300"/>
              </a:spcAft>
              <a:defRPr sz="1100">
                <a:solidFill>
                  <a:srgbClr val="283342"/>
                </a:solidFill>
              </a:defRPr>
            </a:pPr>
            <a:r>
              <a:rPr dirty="0"/>
              <a:t>The rover visits scientific sites and returns to a base station.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487168"/>
            <a:ext cx="3246120" cy="1051560"/>
          </a:xfrm>
          <a:prstGeom prst="roundRect">
            <a:avLst/>
          </a:prstGeom>
          <a:solidFill>
            <a:srgbClr val="ECF9F2"/>
          </a:solidFill>
          <a:ln w="15240">
            <a:solidFill>
              <a:srgbClr val="2C92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" y="2487168"/>
            <a:ext cx="91440" cy="1051560"/>
          </a:xfrm>
          <a:prstGeom prst="rect">
            <a:avLst/>
          </a:prstGeom>
          <a:solidFill>
            <a:srgbClr val="2C9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578608"/>
            <a:ext cx="299008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52C4F"/>
                </a:solidFill>
              </a:defRPr>
            </a:pPr>
            <a:r>
              <a:t>Objects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871216"/>
            <a:ext cx="297180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83342"/>
                </a:solidFill>
              </a:defRPr>
            </a:pPr>
            <a:r>
              <a:rPr dirty="0"/>
              <a:t>rover · locations · base · datasets</a:t>
            </a:r>
          </a:p>
          <a:p>
            <a:pPr>
              <a:spcAft>
                <a:spcPts val="300"/>
              </a:spcAft>
              <a:defRPr sz="1100">
                <a:solidFill>
                  <a:srgbClr val="283342"/>
                </a:solidFill>
              </a:defRPr>
            </a:pPr>
            <a:r>
              <a:rPr dirty="0"/>
              <a:t>Each dataset has a fixed memory size.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739896"/>
            <a:ext cx="3246120" cy="1051560"/>
          </a:xfrm>
          <a:prstGeom prst="roundRect">
            <a:avLst/>
          </a:prstGeom>
          <a:solidFill>
            <a:srgbClr val="FFF7E8"/>
          </a:solidFill>
          <a:ln w="15240">
            <a:solidFill>
              <a:srgbClr val="E09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4360" y="3739896"/>
            <a:ext cx="91440" cy="1051560"/>
          </a:xfrm>
          <a:prstGeom prst="rect">
            <a:avLst/>
          </a:prstGeom>
          <a:solidFill>
            <a:srgbClr val="E09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831335"/>
            <a:ext cx="299008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52C4F"/>
                </a:solidFill>
              </a:defRPr>
            </a:pPr>
            <a:r>
              <a:t>Planning problem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123944"/>
            <a:ext cx="297180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83342"/>
                </a:solidFill>
              </a:defRPr>
            </a:pPr>
            <a:r>
              <a:rPr dirty="0"/>
              <a:t>Collect required data and ensure that every required dataset is eventually offloaded at the base.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1143000"/>
            <a:ext cx="7040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52C4F"/>
                </a:solidFill>
              </a:defRPr>
            </a:pPr>
            <a:r>
              <a:t>Main constrained classical instance used in the presentation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1627632"/>
            <a:ext cx="100584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34840" y="1627632"/>
            <a:ext cx="91440" cy="713232"/>
          </a:xfrm>
          <a:prstGeom prst="rect">
            <a:avLst/>
          </a:prstGeom>
          <a:solidFill>
            <a:srgbClr val="D8E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17720" y="1719072"/>
            <a:ext cx="7498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52C4F"/>
                </a:solidFill>
              </a:defRPr>
            </a:pPr>
            <a:r>
              <a:t>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2011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19">
                <a:solidFill>
                  <a:srgbClr val="283342"/>
                </a:solidFill>
              </a:defRPr>
            </a:pPr>
            <a:r>
              <a:t>offload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58968" y="1911095"/>
            <a:ext cx="338328" cy="0"/>
          </a:xfrm>
          <a:prstGeom prst="line">
            <a:avLst/>
          </a:prstGeom>
          <a:ln w="19050">
            <a:solidFill>
              <a:srgbClr val="8291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5458968" y="2075688"/>
            <a:ext cx="338328" cy="0"/>
          </a:xfrm>
          <a:prstGeom prst="line">
            <a:avLst/>
          </a:prstGeom>
          <a:ln w="19050">
            <a:solidFill>
              <a:srgbClr val="8291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833872" y="1627632"/>
            <a:ext cx="100584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833872" y="1627632"/>
            <a:ext cx="91440" cy="713232"/>
          </a:xfrm>
          <a:prstGeom prst="rect">
            <a:avLst/>
          </a:prstGeom>
          <a:solidFill>
            <a:srgbClr val="D8E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16752" y="1719072"/>
            <a:ext cx="7498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52C4F"/>
                </a:solidFill>
              </a:defRPr>
            </a:pPr>
            <a:r>
              <a:t>Site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16752" y="2011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19">
                <a:solidFill>
                  <a:srgbClr val="283342"/>
                </a:solidFill>
              </a:defRPr>
            </a:pPr>
            <a:r>
              <a:t>data1 = 4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858000" y="1911095"/>
            <a:ext cx="338328" cy="0"/>
          </a:xfrm>
          <a:prstGeom prst="line">
            <a:avLst/>
          </a:prstGeom>
          <a:ln w="19050">
            <a:solidFill>
              <a:srgbClr val="8291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6858000" y="2075688"/>
            <a:ext cx="338328" cy="0"/>
          </a:xfrm>
          <a:prstGeom prst="line">
            <a:avLst/>
          </a:prstGeom>
          <a:ln w="19050">
            <a:solidFill>
              <a:srgbClr val="8291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232904" y="1627632"/>
            <a:ext cx="100584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232904" y="1627632"/>
            <a:ext cx="91440" cy="713232"/>
          </a:xfrm>
          <a:prstGeom prst="rect">
            <a:avLst/>
          </a:prstGeom>
          <a:solidFill>
            <a:srgbClr val="D8E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15783" y="1719072"/>
            <a:ext cx="7498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52C4F"/>
                </a:solidFill>
              </a:defRPr>
            </a:pPr>
            <a:r>
              <a:t>Site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15783" y="2011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19">
                <a:solidFill>
                  <a:srgbClr val="283342"/>
                </a:solidFill>
              </a:defRPr>
            </a:pPr>
            <a:r>
              <a:t>data2 = 4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257032" y="1911095"/>
            <a:ext cx="338328" cy="0"/>
          </a:xfrm>
          <a:prstGeom prst="line">
            <a:avLst/>
          </a:prstGeom>
          <a:ln w="19050">
            <a:solidFill>
              <a:srgbClr val="8291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8257032" y="2075688"/>
            <a:ext cx="338328" cy="0"/>
          </a:xfrm>
          <a:prstGeom prst="line">
            <a:avLst/>
          </a:prstGeom>
          <a:ln w="19050">
            <a:solidFill>
              <a:srgbClr val="8291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631936" y="1627632"/>
            <a:ext cx="100584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631936" y="1627632"/>
            <a:ext cx="91440" cy="713232"/>
          </a:xfrm>
          <a:prstGeom prst="rect">
            <a:avLst/>
          </a:prstGeom>
          <a:solidFill>
            <a:srgbClr val="D8E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814815" y="1719072"/>
            <a:ext cx="7498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52C4F"/>
                </a:solidFill>
              </a:defRPr>
            </a:pPr>
            <a:r>
              <a:t>Site 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14815" y="2011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19">
                <a:solidFill>
                  <a:srgbClr val="283342"/>
                </a:solidFill>
              </a:defRPr>
            </a:pPr>
            <a:r>
              <a:t>data3 = 10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656063" y="1911095"/>
            <a:ext cx="338329" cy="0"/>
          </a:xfrm>
          <a:prstGeom prst="line">
            <a:avLst/>
          </a:prstGeom>
          <a:ln w="19050">
            <a:solidFill>
              <a:srgbClr val="8291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9656063" y="2075688"/>
            <a:ext cx="338329" cy="0"/>
          </a:xfrm>
          <a:prstGeom prst="line">
            <a:avLst/>
          </a:prstGeom>
          <a:ln w="19050">
            <a:solidFill>
              <a:srgbClr val="8291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10030967" y="1627632"/>
            <a:ext cx="100584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0030967" y="1627632"/>
            <a:ext cx="91440" cy="713232"/>
          </a:xfrm>
          <a:prstGeom prst="rect">
            <a:avLst/>
          </a:prstGeom>
          <a:solidFill>
            <a:srgbClr val="D8E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213847" y="1719072"/>
            <a:ext cx="7498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52C4F"/>
                </a:solidFill>
              </a:defRPr>
            </a:pPr>
            <a:r>
              <a:t>Site 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13847" y="2011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19">
                <a:solidFill>
                  <a:srgbClr val="283342"/>
                </a:solidFill>
              </a:defRPr>
            </a:pPr>
            <a:r>
              <a:t>data4 = 6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43400" y="2880360"/>
            <a:ext cx="329184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343400" y="2880360"/>
            <a:ext cx="91440" cy="1188720"/>
          </a:xfrm>
          <a:prstGeom prst="rect">
            <a:avLst/>
          </a:prstGeom>
          <a:solidFill>
            <a:srgbClr val="CC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526280" y="2971800"/>
            <a:ext cx="30358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52C4F"/>
                </a:solidFill>
              </a:defRPr>
            </a:pPr>
            <a:r>
              <a:t>Key constraint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26280" y="3264408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83342"/>
                </a:solidFill>
              </a:defRPr>
            </a:pPr>
            <a:r>
              <a:t>The rover has capacity 10.</a:t>
            </a:r>
          </a:p>
          <a:p>
            <a:pPr>
              <a:spcAft>
                <a:spcPts val="300"/>
              </a:spcAft>
              <a:defRPr sz="1100">
                <a:solidFill>
                  <a:srgbClr val="283342"/>
                </a:solidFill>
              </a:defRPr>
            </a:pPr>
            <a:r>
              <a:t>If used-memory + data-size exceeds 10, collection is impossible.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909560" y="2880360"/>
            <a:ext cx="329184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909560" y="2880360"/>
            <a:ext cx="91440" cy="1188720"/>
          </a:xfrm>
          <a:prstGeom prst="rect">
            <a:avLst/>
          </a:prstGeom>
          <a:solidFill>
            <a:srgbClr val="CC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092440" y="2971800"/>
            <a:ext cx="30358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52C4F"/>
                </a:solidFill>
              </a:defRPr>
            </a:pPr>
            <a:r>
              <a:t>Why this domain matters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92440" y="3264408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83342"/>
                </a:solidFill>
              </a:defRPr>
            </a:pPr>
            <a:r>
              <a:t>It isolates resource management.</a:t>
            </a:r>
          </a:p>
          <a:p>
            <a:pPr>
              <a:spcAft>
                <a:spcPts val="300"/>
              </a:spcAft>
              <a:defRPr sz="1100">
                <a:solidFill>
                  <a:srgbClr val="283342"/>
                </a:solidFill>
              </a:defRPr>
            </a:pPr>
            <a:r>
              <a:t>Navigation is simple; memory capacity creates the interesting decisions.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343400" y="4434840"/>
            <a:ext cx="6858000" cy="868680"/>
          </a:xfrm>
          <a:prstGeom prst="roundRect">
            <a:avLst/>
          </a:prstGeom>
          <a:solidFill>
            <a:srgbClr val="ECF3FF"/>
          </a:solidFill>
          <a:ln w="15240">
            <a:solidFill>
              <a:srgbClr val="D8E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4343400" y="4434840"/>
            <a:ext cx="91440" cy="868680"/>
          </a:xfrm>
          <a:prstGeom prst="rect">
            <a:avLst/>
          </a:prstGeom>
          <a:solidFill>
            <a:srgbClr val="D8E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526280" y="4526279"/>
            <a:ext cx="66019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52C4F"/>
                </a:solidFill>
              </a:defRPr>
            </a:pPr>
            <a:r>
              <a:t>Goal intuition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26280" y="4818888"/>
            <a:ext cx="658368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283342"/>
                </a:solidFill>
              </a:defRPr>
            </a:pPr>
            <a:r>
              <a:rPr dirty="0"/>
              <a:t>The rover cannot simply collect everything. It must choose when to return, what to carry together, and when to free memory.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6492240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27082"/>
                </a:solidFill>
              </a:defRPr>
            </a:pPr>
            <a:r>
              <a:t>D1-V8 · Planetary Rover · Memory Constraints and Data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27082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52C4F"/>
                </a:solidFill>
              </a:defRPr>
            </a:pPr>
            <a:r>
              <a:t>2. Classical PDDL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1417320" cy="621792"/>
          </a:xfrm>
          <a:prstGeom prst="roundRect">
            <a:avLst/>
          </a:prstGeom>
          <a:solidFill>
            <a:srgbClr val="ECF3FF"/>
          </a:solidFill>
          <a:ln w="1524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234440"/>
            <a:ext cx="91440" cy="621792"/>
          </a:xfrm>
          <a:prstGeom prst="rect">
            <a:avLst/>
          </a:prstGeom>
          <a:solidFill>
            <a:srgbClr val="CC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325880"/>
            <a:ext cx="116128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52C4F"/>
                </a:solidFill>
              </a:defRPr>
            </a:pPr>
            <a:r>
              <a:t>move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76272" y="1545336"/>
            <a:ext cx="310896" cy="0"/>
          </a:xfrm>
          <a:prstGeom prst="line">
            <a:avLst/>
          </a:prstGeom>
          <a:ln w="19050">
            <a:solidFill>
              <a:srgbClr val="8291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14600" y="1234440"/>
            <a:ext cx="1417320" cy="621792"/>
          </a:xfrm>
          <a:prstGeom prst="roundRect">
            <a:avLst/>
          </a:prstGeom>
          <a:solidFill>
            <a:srgbClr val="ECF9F2"/>
          </a:solidFill>
          <a:ln w="1524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14600" y="1234440"/>
            <a:ext cx="91440" cy="621792"/>
          </a:xfrm>
          <a:prstGeom prst="rect">
            <a:avLst/>
          </a:prstGeom>
          <a:solidFill>
            <a:srgbClr val="CC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97480" y="1325880"/>
            <a:ext cx="116128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52C4F"/>
                </a:solidFill>
              </a:defRPr>
            </a:pPr>
            <a:r>
              <a:t>collect-data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59352" y="1545336"/>
            <a:ext cx="310896" cy="0"/>
          </a:xfrm>
          <a:prstGeom prst="line">
            <a:avLst/>
          </a:prstGeom>
          <a:ln w="19050">
            <a:solidFill>
              <a:srgbClr val="8291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7680" y="1234440"/>
            <a:ext cx="1417320" cy="621792"/>
          </a:xfrm>
          <a:prstGeom prst="roundRect">
            <a:avLst/>
          </a:prstGeom>
          <a:solidFill>
            <a:srgbClr val="F0F4F9"/>
          </a:solidFill>
          <a:ln w="1524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97680" y="1234440"/>
            <a:ext cx="91440" cy="621792"/>
          </a:xfrm>
          <a:prstGeom prst="rect">
            <a:avLst/>
          </a:prstGeom>
          <a:solidFill>
            <a:srgbClr val="CC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0560" y="1325880"/>
            <a:ext cx="116128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52C4F"/>
                </a:solidFill>
              </a:defRPr>
            </a:pPr>
            <a:r>
              <a:t>store onboard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742432" y="1545336"/>
            <a:ext cx="310896" cy="0"/>
          </a:xfrm>
          <a:prstGeom prst="line">
            <a:avLst/>
          </a:prstGeom>
          <a:ln w="19050">
            <a:solidFill>
              <a:srgbClr val="8291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080760" y="1234440"/>
            <a:ext cx="1417320" cy="621792"/>
          </a:xfrm>
          <a:prstGeom prst="roundRect">
            <a:avLst/>
          </a:prstGeom>
          <a:solidFill>
            <a:srgbClr val="FFF7E8"/>
          </a:solidFill>
          <a:ln w="1524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80760" y="1234440"/>
            <a:ext cx="91440" cy="621792"/>
          </a:xfrm>
          <a:prstGeom prst="rect">
            <a:avLst/>
          </a:prstGeom>
          <a:solidFill>
            <a:srgbClr val="CC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63640" y="1325880"/>
            <a:ext cx="116128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52C4F"/>
                </a:solidFill>
              </a:defRPr>
            </a:pPr>
            <a:r>
              <a:t>offload-data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1097280"/>
            <a:ext cx="2971800" cy="868680"/>
          </a:xfrm>
          <a:prstGeom prst="roundRect">
            <a:avLst/>
          </a:prstGeom>
          <a:solidFill>
            <a:srgbClr val="ECF3FF"/>
          </a:solidFill>
          <a:ln w="15240">
            <a:solidFill>
              <a:srgbClr val="2F6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83879" y="1097280"/>
            <a:ext cx="91440" cy="868680"/>
          </a:xfrm>
          <a:prstGeom prst="rect">
            <a:avLst/>
          </a:prstGeom>
          <a:solidFill>
            <a:srgbClr val="2F6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66759" y="1188720"/>
            <a:ext cx="27157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52C4F"/>
                </a:solidFill>
              </a:defRPr>
            </a:pPr>
            <a:r>
              <a:t>Core idea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59" y="1481328"/>
            <a:ext cx="269748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283342"/>
                </a:solidFill>
              </a:defRPr>
            </a:pPr>
            <a:r>
              <a:t>Memory is a numeric resource, not a Boolean flag.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2331720"/>
            <a:ext cx="3474720" cy="1143000"/>
          </a:xfrm>
          <a:prstGeom prst="roundRect">
            <a:avLst/>
          </a:prstGeom>
          <a:solidFill>
            <a:srgbClr val="1B222D"/>
          </a:solidFill>
          <a:ln>
            <a:solidFill>
              <a:srgbClr val="384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6112" y="2423160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CDCFF"/>
                </a:solidFill>
              </a:defRPr>
            </a:pPr>
            <a:r>
              <a:t>Numeric fluents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2679191"/>
            <a:ext cx="320040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(used-memory ?r)</a:t>
            </a:r>
            <a:br/>
            <a:r>
              <a:t>(memory-capacity ?r)</a:t>
            </a:r>
            <a:br/>
            <a:r>
              <a:t>(data-size ?d)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60" y="2331720"/>
            <a:ext cx="6263640" cy="1143000"/>
          </a:xfrm>
          <a:prstGeom prst="roundRect">
            <a:avLst/>
          </a:prstGeom>
          <a:solidFill>
            <a:srgbClr val="1B222D"/>
          </a:solidFill>
          <a:ln>
            <a:solidFill>
              <a:srgbClr val="384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45152" y="2423160"/>
            <a:ext cx="5989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CDCFF"/>
                </a:solidFill>
              </a:defRPr>
            </a:pPr>
            <a:r>
              <a:t>Key precondition in collect-data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5152" y="2679191"/>
            <a:ext cx="598932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rPr dirty="0"/>
              <a:t>(&gt;= (memory-capacity ?r)</a:t>
            </a:r>
            <a:br>
              <a:rPr dirty="0"/>
            </a:br>
            <a:r>
              <a:rPr dirty="0"/>
              <a:t>    (+ (used-memory ?r) (data-size ?d)))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3794760"/>
            <a:ext cx="3246120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31520" y="3794760"/>
            <a:ext cx="91440" cy="1078992"/>
          </a:xfrm>
          <a:prstGeom prst="rect">
            <a:avLst/>
          </a:prstGeom>
          <a:solidFill>
            <a:srgbClr val="CC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3886200"/>
            <a:ext cx="299008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52C4F"/>
                </a:solidFill>
              </a:defRPr>
            </a:pPr>
            <a:r>
              <a:t>Meaning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178808"/>
            <a:ext cx="2971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83342"/>
                </a:solidFill>
              </a:defRPr>
            </a:pPr>
            <a:r>
              <a:t>Collection increases used-memory.</a:t>
            </a:r>
          </a:p>
          <a:p>
            <a:pPr>
              <a:spcAft>
                <a:spcPts val="300"/>
              </a:spcAft>
              <a:defRPr sz="1100">
                <a:solidFill>
                  <a:srgbClr val="283342"/>
                </a:solidFill>
              </a:defRPr>
            </a:pPr>
            <a:r>
              <a:t>Offloading decreases used-memory.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06240" y="3794760"/>
            <a:ext cx="3246120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206240" y="3794760"/>
            <a:ext cx="91440" cy="1078992"/>
          </a:xfrm>
          <a:prstGeom prst="rect">
            <a:avLst/>
          </a:prstGeom>
          <a:solidFill>
            <a:srgbClr val="CC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389120" y="3886200"/>
            <a:ext cx="299008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52C4F"/>
                </a:solidFill>
              </a:defRPr>
            </a:pPr>
            <a:r>
              <a:t>Why numeric fluents?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4178808"/>
            <a:ext cx="2971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83342"/>
                </a:solidFill>
              </a:defRPr>
            </a:pPr>
            <a:r>
              <a:t>The planner distinguishes 0, 4, 6 and 10 units.</a:t>
            </a:r>
          </a:p>
          <a:p>
            <a:pPr>
              <a:spcAft>
                <a:spcPts val="300"/>
              </a:spcAft>
              <a:defRPr sz="1100">
                <a:solidFill>
                  <a:srgbClr val="283342"/>
                </a:solidFill>
              </a:defRPr>
            </a:pPr>
            <a:r>
              <a:t>This enables exact capacity reasoning.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80960" y="3794760"/>
            <a:ext cx="3246120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680960" y="3794760"/>
            <a:ext cx="91440" cy="1078992"/>
          </a:xfrm>
          <a:prstGeom prst="rect">
            <a:avLst/>
          </a:prstGeom>
          <a:solidFill>
            <a:srgbClr val="CC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863840" y="3886200"/>
            <a:ext cx="299008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52C4F"/>
                </a:solidFill>
              </a:defRPr>
            </a:pPr>
            <a:r>
              <a:t>Expected classical behaviour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4178808"/>
            <a:ext cx="2971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83342"/>
                </a:solidFill>
              </a:defRPr>
            </a:pPr>
            <a:r>
              <a:t>Problem 1 validates the action chain.</a:t>
            </a:r>
          </a:p>
          <a:p>
            <a:pPr>
              <a:spcAft>
                <a:spcPts val="300"/>
              </a:spcAft>
              <a:defRPr sz="1100">
                <a:solidFill>
                  <a:srgbClr val="283342"/>
                </a:solidFill>
              </a:defRPr>
            </a:pPr>
            <a:r>
              <a:t>Problem 2 forces offloading choices and memory reuse.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5230368"/>
            <a:ext cx="10195560" cy="786384"/>
          </a:xfrm>
          <a:prstGeom prst="roundRect">
            <a:avLst/>
          </a:prstGeom>
          <a:solidFill>
            <a:srgbClr val="ECF9F2"/>
          </a:solidFill>
          <a:ln w="15240">
            <a:solidFill>
              <a:srgbClr val="2C92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731520" y="5230368"/>
            <a:ext cx="91440" cy="786384"/>
          </a:xfrm>
          <a:prstGeom prst="rect">
            <a:avLst/>
          </a:prstGeom>
          <a:solidFill>
            <a:srgbClr val="2C9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14400" y="5321807"/>
            <a:ext cx="993952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52C4F"/>
                </a:solidFill>
              </a:defRPr>
            </a:pPr>
            <a:r>
              <a:t>Takeaway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5614416"/>
            <a:ext cx="99212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83342"/>
                </a:solidFill>
              </a:defRPr>
            </a:pPr>
            <a:r>
              <a:t>The classical model already captures the main planning trade-off: collection order depends on available memory.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6492240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27082"/>
                </a:solidFill>
              </a:defRPr>
            </a:pPr>
            <a:r>
              <a:t>D1-V8 · Planetary Rover · Memory Constraints and Data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27082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52C4F"/>
                </a:solidFill>
              </a:defRPr>
            </a:pPr>
            <a:r>
              <a:rPr dirty="0"/>
              <a:t>3. PDDL+ Design Choices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1325880" cy="640080"/>
          </a:xfrm>
          <a:prstGeom prst="roundRect">
            <a:avLst/>
          </a:prstGeom>
          <a:solidFill>
            <a:srgbClr val="ECF3FF"/>
          </a:solidFill>
          <a:ln w="1524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234440"/>
            <a:ext cx="91440" cy="640080"/>
          </a:xfrm>
          <a:prstGeom prst="rect">
            <a:avLst/>
          </a:prstGeom>
          <a:solidFill>
            <a:srgbClr val="CC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325880"/>
            <a:ext cx="10698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52C4F"/>
                </a:solidFill>
              </a:defRPr>
            </a:pPr>
            <a:r>
              <a:t>Available</a:t>
            </a:r>
            <a:br/>
            <a:r>
              <a:t>at site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39112" y="1545336"/>
            <a:ext cx="493776" cy="0"/>
          </a:xfrm>
          <a:prstGeom prst="line">
            <a:avLst/>
          </a:prstGeom>
          <a:ln w="19050">
            <a:solidFill>
              <a:srgbClr val="8291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60320" y="1234440"/>
            <a:ext cx="1325880" cy="640080"/>
          </a:xfrm>
          <a:prstGeom prst="roundRect">
            <a:avLst/>
          </a:prstGeom>
          <a:solidFill>
            <a:srgbClr val="ECF9F2"/>
          </a:solidFill>
          <a:ln w="1524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60320" y="1234440"/>
            <a:ext cx="91440" cy="640080"/>
          </a:xfrm>
          <a:prstGeom prst="rect">
            <a:avLst/>
          </a:prstGeom>
          <a:solidFill>
            <a:srgbClr val="CC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0" y="1325880"/>
            <a:ext cx="10698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52C4F"/>
                </a:solidFill>
              </a:defRPr>
            </a:pPr>
            <a:r>
              <a:t>Stored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13631" y="1545336"/>
            <a:ext cx="493776" cy="0"/>
          </a:xfrm>
          <a:prstGeom prst="line">
            <a:avLst/>
          </a:prstGeom>
          <a:ln w="19050">
            <a:solidFill>
              <a:srgbClr val="8291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434840" y="1234440"/>
            <a:ext cx="1325880" cy="640080"/>
          </a:xfrm>
          <a:prstGeom prst="roundRect">
            <a:avLst/>
          </a:prstGeom>
          <a:solidFill>
            <a:srgbClr val="F0F4F9"/>
          </a:solidFill>
          <a:ln w="1524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34840" y="1234440"/>
            <a:ext cx="91440" cy="640080"/>
          </a:xfrm>
          <a:prstGeom prst="rect">
            <a:avLst/>
          </a:prstGeom>
          <a:solidFill>
            <a:srgbClr val="CC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17720" y="1325880"/>
            <a:ext cx="10698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52C4F"/>
                </a:solidFill>
              </a:defRPr>
            </a:pPr>
            <a:r>
              <a:t>Encoded</a:t>
            </a:r>
          </a:p>
        </p:txBody>
      </p:sp>
      <p:cxnSp>
        <p:nvCxnSpPr>
          <p:cNvPr id="18" name="Connector 17"/>
          <p:cNvCxnSpPr>
            <a:cxnSpLocks/>
          </p:cNvCxnSpPr>
          <p:nvPr/>
        </p:nvCxnSpPr>
        <p:spPr>
          <a:xfrm>
            <a:off x="5788152" y="1545336"/>
            <a:ext cx="493775" cy="0"/>
          </a:xfrm>
          <a:prstGeom prst="line">
            <a:avLst/>
          </a:prstGeom>
          <a:ln w="19050">
            <a:solidFill>
              <a:srgbClr val="8291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09359" y="1234440"/>
            <a:ext cx="1325880" cy="640080"/>
          </a:xfrm>
          <a:prstGeom prst="roundRect">
            <a:avLst/>
          </a:prstGeom>
          <a:solidFill>
            <a:srgbClr val="FFF7E8"/>
          </a:solidFill>
          <a:ln w="1524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59" y="1234440"/>
            <a:ext cx="91440" cy="640080"/>
          </a:xfrm>
          <a:prstGeom prst="rect">
            <a:avLst/>
          </a:prstGeom>
          <a:solidFill>
            <a:srgbClr val="CC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1325880"/>
            <a:ext cx="10698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52C4F"/>
                </a:solidFill>
              </a:defRPr>
            </a:pPr>
            <a:r>
              <a:t>Offloaded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2240280"/>
            <a:ext cx="1325880" cy="640080"/>
          </a:xfrm>
          <a:prstGeom prst="roundRect">
            <a:avLst/>
          </a:prstGeom>
          <a:solidFill>
            <a:srgbClr val="FFEEEE"/>
          </a:solidFill>
          <a:ln w="15240">
            <a:solidFill>
              <a:srgbClr val="CD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0" y="2240280"/>
            <a:ext cx="91440" cy="640080"/>
          </a:xfrm>
          <a:prstGeom prst="rect">
            <a:avLst/>
          </a:prstGeom>
          <a:solidFill>
            <a:srgbClr val="CD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0" y="2331720"/>
            <a:ext cx="10698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52C4F"/>
                </a:solidFill>
              </a:defRPr>
            </a:pPr>
            <a:r>
              <a:t>Lost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617720" y="1874519"/>
            <a:ext cx="365760" cy="365761"/>
          </a:xfrm>
          <a:prstGeom prst="line">
            <a:avLst/>
          </a:prstGeom>
          <a:ln w="19050">
            <a:solidFill>
              <a:srgbClr val="CD48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653028" y="1554480"/>
            <a:ext cx="1417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0">
                <a:solidFill>
                  <a:srgbClr val="627082"/>
                </a:solidFill>
              </a:defRPr>
            </a:pPr>
            <a:r>
              <a:rPr dirty="0"/>
              <a:t>encoding-complete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1993392"/>
            <a:ext cx="1051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0">
                <a:solidFill>
                  <a:srgbClr val="CD4848"/>
                </a:solidFill>
              </a:defRPr>
            </a:pPr>
            <a:r>
              <a:t>data-loss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06640" y="1097280"/>
            <a:ext cx="379476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406640" y="1097280"/>
            <a:ext cx="91440" cy="1325880"/>
          </a:xfrm>
          <a:prstGeom prst="rect">
            <a:avLst/>
          </a:prstGeom>
          <a:solidFill>
            <a:srgbClr val="CC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89519" y="1188720"/>
            <a:ext cx="353872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52C4F"/>
                </a:solidFill>
              </a:defRPr>
            </a:pPr>
            <a:r>
              <a:t>Why PDDL+?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19" y="1481328"/>
            <a:ext cx="3520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83342"/>
                </a:solidFill>
              </a:defRPr>
            </a:pPr>
            <a:r>
              <a:t>Corruption and encoding are not chosen actions.</a:t>
            </a:r>
          </a:p>
          <a:p>
            <a:pPr>
              <a:spcAft>
                <a:spcPts val="300"/>
              </a:spcAft>
              <a:defRPr sz="1100">
                <a:solidFill>
                  <a:srgbClr val="283342"/>
                </a:solidFill>
              </a:defRPr>
            </a:pPr>
            <a:r>
              <a:t>They evolve automatically while the data remains stored.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3154680"/>
            <a:ext cx="3246120" cy="1143000"/>
          </a:xfrm>
          <a:prstGeom prst="roundRect">
            <a:avLst/>
          </a:prstGeom>
          <a:solidFill>
            <a:srgbClr val="ECF3FF"/>
          </a:solidFill>
          <a:ln w="15240">
            <a:solidFill>
              <a:srgbClr val="2F6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85800" y="3154680"/>
            <a:ext cx="91440" cy="1143000"/>
          </a:xfrm>
          <a:prstGeom prst="rect">
            <a:avLst/>
          </a:prstGeom>
          <a:solidFill>
            <a:srgbClr val="2F6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3246120"/>
            <a:ext cx="299008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52C4F"/>
                </a:solidFill>
              </a:defRPr>
            </a:pPr>
            <a:r>
              <a:t>Processes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3538728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83342"/>
                </a:solidFill>
              </a:defRPr>
            </a:pPr>
            <a:r>
              <a:t>memory-corruption</a:t>
            </a:r>
          </a:p>
          <a:p>
            <a:pPr>
              <a:spcAft>
                <a:spcPts val="300"/>
              </a:spcAft>
              <a:defRPr sz="1200">
                <a:solidFill>
                  <a:srgbClr val="283342"/>
                </a:solidFill>
              </a:defRPr>
            </a:pPr>
            <a:r>
              <a:t>data-encoding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60520" y="3154680"/>
            <a:ext cx="3246120" cy="1143000"/>
          </a:xfrm>
          <a:prstGeom prst="roundRect">
            <a:avLst/>
          </a:prstGeom>
          <a:solidFill>
            <a:srgbClr val="FFF7E8"/>
          </a:solidFill>
          <a:ln w="15240">
            <a:solidFill>
              <a:srgbClr val="E09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160520" y="3154680"/>
            <a:ext cx="91440" cy="1143000"/>
          </a:xfrm>
          <a:prstGeom prst="rect">
            <a:avLst/>
          </a:prstGeom>
          <a:solidFill>
            <a:srgbClr val="E09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343400" y="3246120"/>
            <a:ext cx="299008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52C4F"/>
                </a:solidFill>
              </a:defRPr>
            </a:pPr>
            <a:r>
              <a:t>Events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3538728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83342"/>
                </a:solidFill>
              </a:defRPr>
            </a:pPr>
            <a:r>
              <a:t>encoding-complete</a:t>
            </a:r>
          </a:p>
          <a:p>
            <a:pPr>
              <a:spcAft>
                <a:spcPts val="300"/>
              </a:spcAft>
              <a:defRPr sz="1200">
                <a:solidFill>
                  <a:srgbClr val="283342"/>
                </a:solidFill>
              </a:defRPr>
            </a:pPr>
            <a:r>
              <a:t>data-loss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35240" y="3154680"/>
            <a:ext cx="3246120" cy="1143000"/>
          </a:xfrm>
          <a:prstGeom prst="roundRect">
            <a:avLst/>
          </a:prstGeom>
          <a:solidFill>
            <a:srgbClr val="ECF9F2"/>
          </a:solidFill>
          <a:ln w="15240">
            <a:solidFill>
              <a:srgbClr val="2C92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635240" y="3154680"/>
            <a:ext cx="91440" cy="1143000"/>
          </a:xfrm>
          <a:prstGeom prst="rect">
            <a:avLst/>
          </a:prstGeom>
          <a:solidFill>
            <a:srgbClr val="2C9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818119" y="3246120"/>
            <a:ext cx="299008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52C4F"/>
                </a:solidFill>
              </a:defRPr>
            </a:pPr>
            <a:r>
              <a:t>Numeric fluents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18119" y="3538728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283342"/>
                </a:solidFill>
              </a:defRPr>
            </a:pPr>
            <a:r>
              <a:t>corruption, corruption-limit, corruption-rate</a:t>
            </a:r>
          </a:p>
          <a:p>
            <a:pPr>
              <a:spcAft>
                <a:spcPts val="300"/>
              </a:spcAft>
              <a:defRPr sz="1080">
                <a:solidFill>
                  <a:srgbClr val="283342"/>
                </a:solidFill>
              </a:defRPr>
            </a:pPr>
            <a:r>
              <a:t>encoding-progress, encoding-required, encoding-rate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" y="4663440"/>
            <a:ext cx="4983480" cy="914400"/>
          </a:xfrm>
          <a:prstGeom prst="roundRect">
            <a:avLst/>
          </a:prstGeom>
          <a:solidFill>
            <a:srgbClr val="1B222D"/>
          </a:solidFill>
          <a:ln>
            <a:solidFill>
              <a:srgbClr val="384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50392" y="4754879"/>
            <a:ext cx="4709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CDCFF"/>
                </a:solidFill>
              </a:defRPr>
            </a:pPr>
            <a:r>
              <a:t>memory-corruption process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" y="5010912"/>
            <a:ext cx="47091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FFFFFF"/>
                </a:solidFill>
                <a:latin typeface="Consolas"/>
              </a:defRPr>
            </a:pPr>
            <a:r>
              <a:t>(increase (corruption ?d)</a:t>
            </a:r>
            <a:br/>
            <a:r>
              <a:t>          (* #t (corruption-rate ?d)))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0" y="4663440"/>
            <a:ext cx="4983480" cy="914400"/>
          </a:xfrm>
          <a:prstGeom prst="roundRect">
            <a:avLst/>
          </a:prstGeom>
          <a:solidFill>
            <a:srgbClr val="1B222D"/>
          </a:solidFill>
          <a:ln>
            <a:solidFill>
              <a:srgbClr val="384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108192" y="4754879"/>
            <a:ext cx="4709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CDCFF"/>
                </a:solidFill>
              </a:defRPr>
            </a:pPr>
            <a:r>
              <a:t>data-encoding process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08192" y="5010912"/>
            <a:ext cx="47091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FFFFFF"/>
                </a:solidFill>
                <a:latin typeface="Consolas"/>
              </a:defRPr>
            </a:pPr>
            <a:r>
              <a:t>(increase (encoding-progress ?d)</a:t>
            </a:r>
            <a:br/>
            <a:r>
              <a:t>          (* #t (encoding-rate ?d)))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5724144"/>
            <a:ext cx="10287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152C4F"/>
                </a:solidFill>
              </a:defRPr>
            </a:pPr>
            <a:r>
              <a:t>A mission can be memory-feasible but still fail if data is lost before encoding completes.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6492240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27082"/>
                </a:solidFill>
              </a:defRPr>
            </a:pPr>
            <a:r>
              <a:t>D1-V8 · Planetary Rover · Memory Constraints and Data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27082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52C4F"/>
                </a:solidFill>
              </a:defRPr>
            </a:pPr>
            <a:r>
              <a:rPr dirty="0"/>
              <a:t>4. Live Demo / Output — Classical PDDL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4572000" cy="1298448"/>
          </a:xfrm>
          <a:prstGeom prst="roundRect">
            <a:avLst/>
          </a:prstGeom>
          <a:solidFill>
            <a:srgbClr val="1B222D"/>
          </a:solidFill>
          <a:ln>
            <a:solidFill>
              <a:srgbClr val="384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234440"/>
            <a:ext cx="42976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CDCFF"/>
                </a:solidFill>
              </a:defRPr>
            </a:pPr>
            <a:r>
              <a:t>Run command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490472"/>
            <a:ext cx="42976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java -jar ~/enhsp/.../enhsp.jar \</a:t>
            </a:r>
            <a:br/>
            <a:r>
              <a:t>  -o .../pddl/domain-memory-rover.pddl \</a:t>
            </a:r>
            <a:br/>
            <a:r>
              <a:t>  -f .../pddl/problem-2-memory-constrained.pddl \</a:t>
            </a:r>
            <a:br/>
            <a:r>
              <a:t>  -planner opt-hrmax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40680" y="1143000"/>
            <a:ext cx="5623560" cy="1298448"/>
          </a:xfrm>
          <a:prstGeom prst="roundRect">
            <a:avLst/>
          </a:prstGeom>
          <a:solidFill>
            <a:srgbClr val="1B222D"/>
          </a:solidFill>
          <a:ln>
            <a:solidFill>
              <a:srgbClr val="384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05272" y="1234440"/>
            <a:ext cx="5349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CDCFF"/>
                </a:solidFill>
              </a:defRPr>
            </a:pPr>
            <a:r>
              <a:t>Key output lines to show 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05272" y="1490472"/>
            <a:ext cx="534924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Problem Solved</a:t>
            </a:r>
            <a:br/>
            <a:r>
              <a:t>Found Plan</a:t>
            </a:r>
            <a:br/>
            <a:r>
              <a:t>... (collect-data rover1 data3 site3)</a:t>
            </a:r>
            <a:br/>
            <a:r>
              <a:t>... (offload-data rover1 data3 base)</a:t>
            </a:r>
            <a:br/>
            <a:r>
              <a:t>... (collect-data rover1 data4 site4)</a:t>
            </a:r>
            <a:br/>
            <a:r>
              <a:t>... (collect-data rover1 data2 site2)</a:t>
            </a:r>
          </a:p>
        </p:txBody>
      </p:sp>
      <p:pic>
        <p:nvPicPr>
          <p:cNvPr id="13" name="Picture 12" descr="memory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88920"/>
            <a:ext cx="5440680" cy="233172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400800" y="2788920"/>
            <a:ext cx="1417320" cy="841248"/>
          </a:xfrm>
          <a:prstGeom prst="roundRect">
            <a:avLst/>
          </a:prstGeom>
          <a:solidFill>
            <a:srgbClr val="FFEEEE"/>
          </a:solidFill>
          <a:ln w="15240">
            <a:solidFill>
              <a:srgbClr val="CD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0" y="2788920"/>
            <a:ext cx="91440" cy="841248"/>
          </a:xfrm>
          <a:prstGeom prst="rect">
            <a:avLst/>
          </a:prstGeom>
          <a:solidFill>
            <a:srgbClr val="CD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2880360"/>
            <a:ext cx="116128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52C4F"/>
                </a:solidFill>
              </a:defRPr>
            </a:pPr>
            <a:r>
              <a:t>Step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172968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283342"/>
                </a:solidFill>
              </a:defRPr>
            </a:pPr>
            <a:r>
              <a:t>data3 = 10</a:t>
            </a:r>
          </a:p>
          <a:p>
            <a:pPr>
              <a:spcAft>
                <a:spcPts val="300"/>
              </a:spcAft>
              <a:defRPr sz="1050">
                <a:solidFill>
                  <a:srgbClr val="283342"/>
                </a:solidFill>
              </a:defRPr>
            </a:pPr>
            <a:r>
              <a:t>travels alone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788920"/>
            <a:ext cx="1417320" cy="841248"/>
          </a:xfrm>
          <a:prstGeom prst="roundRect">
            <a:avLst/>
          </a:prstGeom>
          <a:solidFill>
            <a:srgbClr val="ECF9F2"/>
          </a:solidFill>
          <a:ln w="15240">
            <a:solidFill>
              <a:srgbClr val="2C92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46720" y="2788920"/>
            <a:ext cx="91440" cy="841248"/>
          </a:xfrm>
          <a:prstGeom prst="rect">
            <a:avLst/>
          </a:prstGeom>
          <a:solidFill>
            <a:srgbClr val="2C9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2880360"/>
            <a:ext cx="116128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52C4F"/>
                </a:solidFill>
              </a:defRPr>
            </a:pPr>
            <a:r>
              <a:t>Step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172968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283342"/>
                </a:solidFill>
              </a:defRPr>
            </a:pPr>
            <a:r>
              <a:t>data4 + data2</a:t>
            </a:r>
          </a:p>
          <a:p>
            <a:pPr>
              <a:spcAft>
                <a:spcPts val="300"/>
              </a:spcAft>
              <a:defRPr sz="1050">
                <a:solidFill>
                  <a:srgbClr val="283342"/>
                </a:solidFill>
              </a:defRPr>
            </a:pPr>
            <a:r>
              <a:t>exactly fill 10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2788920"/>
            <a:ext cx="1417320" cy="841248"/>
          </a:xfrm>
          <a:prstGeom prst="roundRect">
            <a:avLst/>
          </a:prstGeom>
          <a:solidFill>
            <a:srgbClr val="ECF3FF"/>
          </a:solidFill>
          <a:ln w="15240">
            <a:solidFill>
              <a:srgbClr val="2F6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692640" y="2788920"/>
            <a:ext cx="91440" cy="841248"/>
          </a:xfrm>
          <a:prstGeom prst="rect">
            <a:avLst/>
          </a:prstGeom>
          <a:solidFill>
            <a:srgbClr val="2F6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75519" y="2880360"/>
            <a:ext cx="116128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52C4F"/>
                </a:solidFill>
              </a:defRPr>
            </a:pPr>
            <a:r>
              <a:t>Step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19" y="3172968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283342"/>
                </a:solidFill>
              </a:defRPr>
            </a:pPr>
            <a:r>
              <a:t>offload data2</a:t>
            </a:r>
          </a:p>
          <a:p>
            <a:pPr>
              <a:spcAft>
                <a:spcPts val="300"/>
              </a:spcAft>
              <a:defRPr sz="1050">
                <a:solidFill>
                  <a:srgbClr val="283342"/>
                </a:solidFill>
              </a:defRPr>
            </a:pPr>
            <a:r>
              <a:t>collect data1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931920"/>
            <a:ext cx="4709160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0" y="3931920"/>
            <a:ext cx="91440" cy="987552"/>
          </a:xfrm>
          <a:prstGeom prst="rect">
            <a:avLst/>
          </a:prstGeom>
          <a:solidFill>
            <a:srgbClr val="CC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0" y="4023359"/>
            <a:ext cx="445312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52C4F"/>
                </a:solidFill>
              </a:defRPr>
            </a:pPr>
            <a:r>
              <a:t>Why the output is correct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315968"/>
            <a:ext cx="4434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283342"/>
                </a:solidFill>
              </a:defRPr>
            </a:pPr>
            <a:r>
              <a:rPr dirty="0"/>
              <a:t>The planner exploits numeric memory capacity: solo transport for data3, exact filling with data4+data2, partial offloading, then memory reuse for data1.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6492240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27082"/>
                </a:solidFill>
              </a:defRPr>
            </a:pPr>
            <a:r>
              <a:t>D1-V8 · Planetary Rover · Memory Constraints and Data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27082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52C4F"/>
                </a:solidFill>
              </a:defRPr>
            </a:pPr>
            <a:r>
              <a:rPr dirty="0"/>
              <a:t>5. Live Demo / Output — PDDL+</a:t>
            </a:r>
          </a:p>
        </p:txBody>
      </p:sp>
      <p:pic>
        <p:nvPicPr>
          <p:cNvPr id="7" name="Picture 6" descr="timing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81328"/>
            <a:ext cx="5394960" cy="2240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55081" y="1687068"/>
            <a:ext cx="2112264" cy="960120"/>
          </a:xfrm>
          <a:prstGeom prst="roundRect">
            <a:avLst/>
          </a:prstGeom>
          <a:solidFill>
            <a:srgbClr val="ECF9F2"/>
          </a:solidFill>
          <a:ln w="15240">
            <a:solidFill>
              <a:srgbClr val="2C92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55080" y="1687068"/>
            <a:ext cx="109727" cy="960120"/>
          </a:xfrm>
          <a:prstGeom prst="rect">
            <a:avLst/>
          </a:prstGeom>
          <a:solidFill>
            <a:srgbClr val="2C9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1" y="1778508"/>
            <a:ext cx="18928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52C4F"/>
                </a:solidFill>
              </a:defRPr>
            </a:pPr>
            <a:r>
              <a:t>Plus 1 safe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1" y="2071116"/>
            <a:ext cx="1874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283342"/>
                </a:solidFill>
              </a:defRPr>
            </a:pPr>
            <a:r>
              <a:rPr dirty="0"/>
              <a:t>Encoding finishes at t = 2.</a:t>
            </a:r>
          </a:p>
          <a:p>
            <a:pPr>
              <a:spcAft>
                <a:spcPts val="300"/>
              </a:spcAft>
              <a:defRPr sz="1080">
                <a:solidFill>
                  <a:srgbClr val="283342"/>
                </a:solidFill>
              </a:defRPr>
            </a:pPr>
            <a:r>
              <a:rPr dirty="0"/>
              <a:t>Data loss would happen at t = 10.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1" y="1687068"/>
            <a:ext cx="2148840" cy="960120"/>
          </a:xfrm>
          <a:prstGeom prst="roundRect">
            <a:avLst/>
          </a:prstGeom>
          <a:solidFill>
            <a:srgbClr val="FFEEEE"/>
          </a:solidFill>
          <a:ln w="15240">
            <a:solidFill>
              <a:srgbClr val="CD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869681" y="1687067"/>
            <a:ext cx="109726" cy="960121"/>
          </a:xfrm>
          <a:prstGeom prst="rect">
            <a:avLst/>
          </a:prstGeom>
          <a:solidFill>
            <a:srgbClr val="CD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52560" y="1778508"/>
            <a:ext cx="18928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52C4F"/>
                </a:solidFill>
              </a:defRPr>
            </a:pPr>
            <a:r>
              <a:t>Plus 2 unsolvable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071116"/>
            <a:ext cx="1874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283342"/>
                </a:solidFill>
              </a:defRPr>
            </a:pPr>
            <a:r>
              <a:t>Data loss occurs at t = 2.</a:t>
            </a:r>
          </a:p>
          <a:p>
            <a:pPr>
              <a:spcAft>
                <a:spcPts val="300"/>
              </a:spcAft>
              <a:defRPr sz="1080">
                <a:solidFill>
                  <a:srgbClr val="283342"/>
                </a:solidFill>
              </a:defRPr>
            </a:pPr>
            <a:r>
              <a:t>Encoding would finish only at t = 4.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320540"/>
            <a:ext cx="5029200" cy="1234440"/>
          </a:xfrm>
          <a:prstGeom prst="roundRect">
            <a:avLst/>
          </a:prstGeom>
          <a:solidFill>
            <a:srgbClr val="1B222D"/>
          </a:solidFill>
          <a:ln>
            <a:solidFill>
              <a:srgbClr val="384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" y="4411979"/>
            <a:ext cx="47548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CDCFF"/>
                </a:solidFill>
              </a:defRPr>
            </a:pPr>
            <a:r>
              <a:t>Safe output to show live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4668012"/>
            <a:ext cx="475488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onsolas"/>
              </a:defRPr>
            </a:pPr>
            <a:r>
              <a:t>Problem Solved</a:t>
            </a:r>
            <a:br/>
            <a:r>
              <a:t>... (collect-data rover1 data1 site1)</a:t>
            </a:r>
            <a:br/>
            <a:r>
              <a:t>-----waiting---- [2.0]</a:t>
            </a:r>
            <a:br/>
            <a:r>
              <a:t>... (offload-data rover1 data1 base)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9320" y="4320540"/>
            <a:ext cx="5029200" cy="1234440"/>
          </a:xfrm>
          <a:prstGeom prst="roundRect">
            <a:avLst/>
          </a:prstGeom>
          <a:solidFill>
            <a:srgbClr val="1B222D"/>
          </a:solidFill>
          <a:ln>
            <a:solidFill>
              <a:srgbClr val="384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53912" y="4411979"/>
            <a:ext cx="47548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CDCFF"/>
                </a:solidFill>
              </a:defRPr>
            </a:pPr>
            <a:r>
              <a:t>Failure output to show live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3912" y="4668012"/>
            <a:ext cx="475488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onsolas"/>
              </a:defRPr>
            </a:pPr>
            <a:r>
              <a:t>Problem unsolvable</a:t>
            </a:r>
            <a:br/>
            <a:r>
              <a:t>T_loss = 2,  T_enc = 4</a:t>
            </a:r>
            <a:br/>
            <a:r>
              <a:t>→ the data-loss event fires before encoding-complete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6492240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27082"/>
                </a:solidFill>
              </a:defRPr>
            </a:pPr>
            <a:r>
              <a:t>D1-V8 · Planetary Rover · Memory Constraints and Data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27082"/>
                </a:solidFill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52C4F"/>
                </a:solidFill>
              </a:defRPr>
            </a:pPr>
            <a:r>
              <a:rPr dirty="0"/>
              <a:t>6. Reflection &amp; Limitations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3291840" cy="1664208"/>
          </a:xfrm>
          <a:prstGeom prst="roundRect">
            <a:avLst/>
          </a:prstGeom>
          <a:solidFill>
            <a:srgbClr val="ECF3FF"/>
          </a:solidFill>
          <a:ln w="15240">
            <a:solidFill>
              <a:srgbClr val="2F6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234440"/>
            <a:ext cx="182880" cy="1664208"/>
          </a:xfrm>
          <a:prstGeom prst="rect">
            <a:avLst/>
          </a:prstGeom>
          <a:solidFill>
            <a:srgbClr val="2F6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325880"/>
            <a:ext cx="30358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52C4F"/>
                </a:solidFill>
              </a:defRPr>
            </a:pPr>
            <a:r>
              <a:t>Main challenges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618488"/>
            <a:ext cx="30175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20">
                <a:solidFill>
                  <a:srgbClr val="283342"/>
                </a:solidFill>
              </a:defRPr>
            </a:pPr>
            <a:r>
              <a:t>• modelling memory as a numeric quantity</a:t>
            </a:r>
          </a:p>
          <a:p>
            <a:pPr>
              <a:spcAft>
                <a:spcPts val="300"/>
              </a:spcAft>
              <a:defRPr sz="1120">
                <a:solidFill>
                  <a:srgbClr val="283342"/>
                </a:solidFill>
              </a:defRPr>
            </a:pPr>
            <a:r>
              <a:t>• understanding PDDL+ processes and events</a:t>
            </a:r>
          </a:p>
          <a:p>
            <a:pPr>
              <a:spcAft>
                <a:spcPts val="300"/>
              </a:spcAft>
              <a:defRPr sz="1120">
                <a:solidFill>
                  <a:srgbClr val="283342"/>
                </a:solidFill>
              </a:defRPr>
            </a:pPr>
            <a:r>
              <a:t>• separating real model failures from syntax/tool issues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234440"/>
            <a:ext cx="3291840" cy="1664208"/>
          </a:xfrm>
          <a:prstGeom prst="roundRect">
            <a:avLst/>
          </a:prstGeom>
          <a:solidFill>
            <a:srgbClr val="FFEEEE"/>
          </a:solidFill>
          <a:ln w="15240">
            <a:solidFill>
              <a:srgbClr val="CD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1234440"/>
            <a:ext cx="182880" cy="1664208"/>
          </a:xfrm>
          <a:prstGeom prst="rect">
            <a:avLst/>
          </a:prstGeom>
          <a:solidFill>
            <a:srgbClr val="CD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1325880"/>
            <a:ext cx="30358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52C4F"/>
                </a:solidFill>
              </a:defRPr>
            </a:pPr>
            <a:r>
              <a:t>Known 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618488"/>
            <a:ext cx="30175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20">
                <a:solidFill>
                  <a:srgbClr val="283342"/>
                </a:solidFill>
              </a:defRPr>
            </a:pPr>
            <a:r>
              <a:t>• instantaneous movement</a:t>
            </a:r>
          </a:p>
          <a:p>
            <a:pPr>
              <a:spcAft>
                <a:spcPts val="300"/>
              </a:spcAft>
              <a:defRPr sz="1120">
                <a:solidFill>
                  <a:srgbClr val="283342"/>
                </a:solidFill>
              </a:defRPr>
            </a:pPr>
            <a:r>
              <a:t>• offloading has no bandwidth or duration</a:t>
            </a:r>
          </a:p>
          <a:p>
            <a:pPr>
              <a:spcAft>
                <a:spcPts val="300"/>
              </a:spcAft>
              <a:defRPr sz="1120">
                <a:solidFill>
                  <a:srgbClr val="283342"/>
                </a:solidFill>
              </a:defRPr>
            </a:pPr>
            <a:r>
              <a:t>• deterministic linear corruption</a:t>
            </a:r>
          </a:p>
          <a:p>
            <a:pPr>
              <a:spcAft>
                <a:spcPts val="300"/>
              </a:spcAft>
              <a:defRPr sz="1120">
                <a:solidFill>
                  <a:srgbClr val="283342"/>
                </a:solidFill>
              </a:defRPr>
            </a:pPr>
            <a:r>
              <a:t>• perfect knowledge and one rover only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234440"/>
            <a:ext cx="3291840" cy="1664208"/>
          </a:xfrm>
          <a:prstGeom prst="roundRect">
            <a:avLst/>
          </a:prstGeom>
          <a:solidFill>
            <a:srgbClr val="ECF9F2"/>
          </a:solidFill>
          <a:ln w="15240">
            <a:solidFill>
              <a:srgbClr val="2C92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83879" y="1234440"/>
            <a:ext cx="182880" cy="1664208"/>
          </a:xfrm>
          <a:prstGeom prst="rect">
            <a:avLst/>
          </a:prstGeom>
          <a:solidFill>
            <a:srgbClr val="2C9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59" y="1325880"/>
            <a:ext cx="30358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52C4F"/>
                </a:solidFill>
              </a:defRPr>
            </a:pPr>
            <a:r>
              <a:t>Future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1618488"/>
            <a:ext cx="30175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20">
                <a:solidFill>
                  <a:srgbClr val="283342"/>
                </a:solidFill>
              </a:defRPr>
            </a:pPr>
            <a:r>
              <a:t>• durative movement</a:t>
            </a:r>
          </a:p>
          <a:p>
            <a:pPr>
              <a:spcAft>
                <a:spcPts val="300"/>
              </a:spcAft>
              <a:defRPr sz="1120">
                <a:solidFill>
                  <a:srgbClr val="283342"/>
                </a:solidFill>
              </a:defRPr>
            </a:pPr>
            <a:r>
              <a:t>• communication windows</a:t>
            </a:r>
          </a:p>
          <a:p>
            <a:pPr>
              <a:spcAft>
                <a:spcPts val="300"/>
              </a:spcAft>
              <a:defRPr sz="1120">
                <a:solidFill>
                  <a:srgbClr val="283342"/>
                </a:solidFill>
              </a:defRPr>
            </a:pPr>
            <a:r>
              <a:t>• offloading duration</a:t>
            </a:r>
          </a:p>
          <a:p>
            <a:pPr>
              <a:spcAft>
                <a:spcPts val="300"/>
              </a:spcAft>
              <a:defRPr sz="1120">
                <a:solidFill>
                  <a:srgbClr val="283342"/>
                </a:solidFill>
              </a:defRPr>
            </a:pPr>
            <a:r>
              <a:t>• compression, deletion, or probabilistic corruption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3703320"/>
            <a:ext cx="10561320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68680" y="3703320"/>
            <a:ext cx="91440" cy="987552"/>
          </a:xfrm>
          <a:prstGeom prst="rect">
            <a:avLst/>
          </a:prstGeom>
          <a:solidFill>
            <a:srgbClr val="CC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3794759"/>
            <a:ext cx="1030528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52C4F"/>
                </a:solidFill>
              </a:defRPr>
            </a:pPr>
            <a:r>
              <a:t>Final takeaway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087368"/>
            <a:ext cx="10287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283342"/>
                </a:solidFill>
              </a:defRPr>
            </a:pPr>
            <a:r>
              <a:t>Classical PDDL captures memory-capacity trade-offs. PDDL+ adds timing, so a mission may be memory-feasible but temporally infeasible because data can be lost before it is encoded and offloaded.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349240"/>
            <a:ext cx="6172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152C4F"/>
                </a:solidFill>
              </a:defRPr>
            </a:pPr>
            <a: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865</Words>
  <Application>Microsoft Office PowerPoint</Application>
  <PresentationFormat>Widescreen</PresentationFormat>
  <Paragraphs>141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cp:lastModifiedBy>ENDRI GJINAJ</cp:lastModifiedBy>
  <cp:revision>5</cp:revision>
  <dcterms:created xsi:type="dcterms:W3CDTF">2013-01-27T09:14:16Z</dcterms:created>
  <dcterms:modified xsi:type="dcterms:W3CDTF">2026-06-18T21:10:46Z</dcterms:modified>
  <cp:category/>
</cp:coreProperties>
</file>